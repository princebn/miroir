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BLOC 2 —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Miroir.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conseil en image, </a:t>
            </a:r>
            <a:pPr indent="0" marL="0">
              <a:lnSpc>
                <a:spcPct val="102000"/>
              </a:lnSpc>
              <a:buNone/>
            </a:pPr>
            <a:r>
              <a:rPr lang="en-US" sz="3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structuré.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F6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Industrialiser ce qui était </a:t>
            </a:r>
            <a:pPr indent="0" marL="0">
              <a:buNone/>
            </a:pPr>
            <a:r>
              <a:rPr lang="en-US" sz="1700" i="1" dirty="0">
                <a:solidFill>
                  <a:srgbClr val="6F6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artisanal.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6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LE MARCHÉ — VARIANTE A (À ARBITRER)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20,4 %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conseil en image s'industrialise. Miroir outille la conseillère, </a:t>
            </a:r>
            <a:pPr indent="0" marL="0">
              <a:buNone/>
            </a:pPr>
            <a:r>
              <a:rPr lang="en-US" sz="21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grande échelle.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ai-driven personal styling · CAGR 2026-2034 · DataIntelo (vérifié) · Europe 27,4 %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ARBITRER — garder soit cette slide (A), soit la variante B. Supprimer l'autre.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6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LE PROBLÈME — VARIANTE B (À ARBITRER)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temps d'une conseillère s'évapore dans la recherche de produits — </a:t>
            </a:r>
            <a:pPr indent="0" marL="0">
              <a:buNone/>
            </a:pPr>
            <a:r>
              <a:rPr lang="en-US" sz="21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même</a:t>
            </a:r>
            <a:pPr indent="0" marL="0">
              <a:buNone/>
            </a:pPr>
            <a:r>
              <a:rPr lang="en-US" sz="21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conseiller.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hypothèse du cas · brief Miroir (non sourcée en externe)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718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ARBITRER — garder soit cette slide (B), soit la variante A. Supprimer l'autre.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LA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Miroir transforme l'</a:t>
            </a:r>
            <a:pPr indent="0" marL="0">
              <a:buNone/>
            </a:pPr>
            <a:r>
              <a:rPr lang="en-US" sz="3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intuition</a:t>
            </a:r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système.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conseillère décide. La donnée propose. L'humain garde la main.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PRINCIPES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l'architecture doit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3856" y="1801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visuelle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Retrouver un produit par l'image, pas par mots-clés.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4597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33856" y="24780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crédible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Des millions de transactions réelles, jamais des jouets.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3856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Reproductible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Du poste local au cloud, sans relancer l'infrastructure.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813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33856" y="38313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Mesurer en continu, jamais de boîte noire.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modulaire.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SOURCES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783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· 44k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" y="2752344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H&amp;M · 31,8M tx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68296" y="2720340"/>
            <a:ext cx="265176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INGESTION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783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79776" y="2752344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le brut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2720340"/>
            <a:ext cx="265176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SOCLE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36592" y="2148840"/>
            <a:ext cx="1783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+ pgvector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64608" y="2752344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· Redis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2720340"/>
            <a:ext cx="265176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SUPERVISION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21424" y="2148840"/>
            <a:ext cx="1783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35000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0" y="2752344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réelles, ingestion ELT, socle Postgres + pgvector, supervision continue. Une brique se remplace sans toucher aux autres.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chiffres mesurés à l'ingestion · datasets Fashion + H&amp;M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MODÈLE DE DONNÉES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domaines,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quatorze</a:t>
            </a:r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tables.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1481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2037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" y="262432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profils, conseillères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2057400"/>
            <a:ext cx="1481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2576" y="22037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22576" y="262432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produits, couleurs, embeddings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58768" y="2057400"/>
            <a:ext cx="1481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8496" y="22037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68496" y="262432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H&amp;M, achats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04688" y="2057400"/>
            <a:ext cx="1481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22037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14416" y="262432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 validées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50608" y="2057400"/>
            <a:ext cx="1481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22037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0336" y="2624328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temps réel (Bloc 3)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UUID · types ENUM · pgvector(512) — schéma validé, contraintes en base.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À L'ÉCHELLE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31,8 M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 réelles, chargées en </a:t>
            </a:r>
            <a:pPr indent="0" marL="0">
              <a:buNone/>
            </a:pPr>
            <a:r>
              <a:rPr lang="en-US" sz="21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pPr indent="0" marL="0">
              <a:buNone/>
            </a:pPr>
            <a:r>
              <a:rPr lang="en-US" sz="21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sans jamais saturer la mémoire.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dataset H&amp;M · 31 788 324 lignes · 2 ans · mesuré à l'ingestion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STACK TECHNIQUE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choix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assumés.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&amp; recherche vectorielle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10128" y="1828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10128" y="2194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objet S3-compatible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53328" y="1828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53328" y="2194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9443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+ Kubernetes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3101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 &amp; orchestration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10128" y="29443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33101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53328" y="294436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+ Grafana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53328" y="33101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INFRASTRUCTURE AS 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Reproductible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essence.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8046720" cy="2468880"/>
          </a:xfrm>
          <a:prstGeom prst="rect">
            <a:avLst/>
          </a:prstGeom>
          <a:solidFill>
            <a:srgbClr val="EBE3D2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116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"google_sql_database_instance" "miroir"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= "miroir-postgres"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database_version = "POSTGRES_16"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          = "europe-west1"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settings { tier  = "db-custom-2-7680"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module Terraform local + GCP — validé (terraform validate)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EXÉCUTION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Déployé. </a:t>
            </a:r>
            <a:pPr indent="0" marL="0">
              <a:buNone/>
            </a:pPr>
            <a:r>
              <a:rPr lang="en-US" sz="3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Supervisé.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834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sur Kubernetes — pods Running, volumes Bound. Prometheus + Grafana — cibles UP, métriques en continu.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relevé sur le cluster local · Docker Desktop K8s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DÉCISIONS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choix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tracés.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3856" y="1618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B2B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RGPD défendable, la conseillère reste décisionnaire.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2037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33856" y="22219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 plutôt qu'ETL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Charger le brut, transformer en aval.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807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3856" y="28254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Une seule base : relationnel et recherche visuelle.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410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33856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→ Helm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Du local au cluster, même logique.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40142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3856" y="4032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Réel + synthétique assumé</a:t>
            </a:r>
            <a:pPr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Volume crédible, cohérence métier.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PÉRIMÈTRE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Réalisé en Bloc 2,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la suite.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RÉALISÉ · BLOC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091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À VENIR · BLOCS 3-4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data déployée — Postgres + pgvector, MinIO, Redis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14 tables, 5 domaines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réelle — 31,8 M transactions, 44k produits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validé — local + GCP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1A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monitoring actifs (pods Running, cibles UP)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synthétiques clientes / conseillères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visuelle CLIP — Bloc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de recommandation — Bloc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pPr indent="0" marL="0">
              <a:spcAft>
                <a:spcPts val="1100"/>
              </a:spcAft>
              <a:buNone/>
            </a:pPr>
            <a:r>
              <a:rPr lang="en-US" sz="13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temps réel Kafka — Bloc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1920240"/>
            <a:ext cx="0" cy="2103120"/>
          </a:xfrm>
          <a:prstGeom prst="line">
            <a:avLst/>
          </a:prstGeom>
          <a:noFill/>
          <a:ln w="6350">
            <a:solidFill>
              <a:srgbClr val="D4CCB9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EN SYNTHÈSE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fondation </a:t>
            </a:r>
            <a:pPr indent="0" marL="0">
              <a:buNone/>
            </a:pPr>
            <a:r>
              <a:rPr lang="en-US" sz="34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complète.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réelles à l'échelle · IaC local et cloud · Kubernetes · supervision active.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github.com/princebn/miroir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60" kern="0" dirty="0">
                <a:solidFill>
                  <a:srgbClr val="6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 MARCHÉ — BACKUP Q&amp;R (À SUPPRIMER SI NON UTILISÉ)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Cadrage </a:t>
            </a:r>
            <a:pPr indent="0" marL="0">
              <a:buNone/>
            </a:pPr>
            <a:r>
              <a:rPr lang="en-US" sz="2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marché.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18488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0,49 Md$ (2025)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87368" y="17922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personal styling, Europe — 1,8 Md$ × 27,4 %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calculé · DataIntelo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670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18488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50–60 M$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87368" y="26334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B2B SaaS pour conseillères pro (~10–15 % du TAM)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cadrée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18488" y="3511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0,5 M€ ARR à 3 ans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87368" y="3474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conseillères × ~1 800 €/an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cadrée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4439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5A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TAM dérivé d'une source commerciale · SAM/SOM = hypothèses, pas des faits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Miroir — Bloc 2 — Architecture</dc:title>
  <dc:subject>PptxGenJS Presentation</dc:subject>
  <dc:creator>Miroir</dc:creator>
  <cp:lastModifiedBy>Miroir</cp:lastModifiedBy>
  <cp:revision>1</cp:revision>
  <dcterms:created xsi:type="dcterms:W3CDTF">2026-06-05T11:32:03Z</dcterms:created>
  <dcterms:modified xsi:type="dcterms:W3CDTF">2026-06-05T11:32:03Z</dcterms:modified>
</cp:coreProperties>
</file>